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83" r:id="rId7"/>
    <p:sldId id="284" r:id="rId8"/>
    <p:sldId id="285" r:id="rId9"/>
    <p:sldId id="262" r:id="rId10"/>
    <p:sldId id="263" r:id="rId11"/>
    <p:sldId id="268" r:id="rId12"/>
    <p:sldId id="269" r:id="rId13"/>
    <p:sldId id="286" r:id="rId14"/>
    <p:sldId id="270" r:id="rId15"/>
    <p:sldId id="271" r:id="rId16"/>
    <p:sldId id="272" r:id="rId17"/>
    <p:sldId id="273" r:id="rId18"/>
    <p:sldId id="274" r:id="rId19"/>
    <p:sldId id="275" r:id="rId20"/>
    <p:sldId id="280" r:id="rId21"/>
    <p:sldId id="281" r:id="rId22"/>
    <p:sldId id="287" r:id="rId23"/>
    <p:sldId id="288" r:id="rId24"/>
    <p:sldId id="289" r:id="rId25"/>
    <p:sldId id="276" r:id="rId26"/>
    <p:sldId id="290" r:id="rId27"/>
    <p:sldId id="291" r:id="rId28"/>
    <p:sldId id="292" r:id="rId29"/>
    <p:sldId id="293" r:id="rId30"/>
    <p:sldId id="27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5104-8AA8-456C-BD88-628CF8C60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3356F-5840-46C7-8046-B4F4D4EA3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C8A80-C508-49D9-9591-CD6B842DA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988E6-040D-41DE-8E13-2C1B475A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B1E69-662F-4188-9A4D-458CAA56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1920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9B8E2-E9B0-491F-8DE1-720004FA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BD5DD-8589-4E96-B8EB-4B891A691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72938-9CB0-4F1F-9C14-5A3DE1C7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C3011-9991-48B3-85E4-F5E00524D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3741E-5588-4F27-ABF8-296D9FAE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907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2733A-D26A-4CCE-A31B-1A0EF051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E7A9C-3C53-426F-B7D1-98B8CC61C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A0870-9B73-4E3D-A23A-17A72E584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692C4-395F-425F-807C-01CF6DF3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ABC29-1618-4253-9062-74C1D6F7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907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1A2D-0F7A-4A0A-BE85-09CBEBF2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1CD9C-E62C-42E1-83BE-AA2659A30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0539D-5D00-4DBF-8639-031E6D889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2A0BC-B2E9-4E86-8928-23A6F132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D802C4-D174-4901-AC1B-210E29F8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AE0EC-DC46-445D-A117-303C958F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5590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C9AB2-8424-43A5-9D1F-8380AF554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55F33-F9D6-47FA-BCA7-442DC4E63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464F5-5F64-4200-ABAE-816E333D1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3C548-79C9-4FEE-9EDE-883129FC9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70F883-D99C-494E-921C-52CDDE520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18AEE-E311-4778-9F25-FE484928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6098B-38A5-468F-80EE-53BFB1030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579EAA-31C9-4401-842F-E33EE0941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7321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8877-A776-4D05-A07B-95EE40A6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9AD5C-D8E4-4B27-9A1E-540705CC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909D6A-8A0D-4CC9-B7DC-3B1E2D156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24155-49E0-49C7-A8B7-0EBD4B06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802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26B47-F2B7-4B55-B474-C7D7CA8CC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6EEB67-90AE-41AD-BB12-38E4E952D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1780-380C-4572-8FC7-BA4B7764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303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6092-5EDD-4DF7-9DBE-B05EA7CE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5E685-E1F0-4F85-9EB0-E462D56C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55167-4BFC-4209-A7E8-4BF84307C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46D86-3FD7-40EB-8EFB-D6D970D1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040E7-4074-4AE1-B91C-24082B0A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DBBC1-AC3A-4C42-A568-083890B56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517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C9C0-087C-4A23-8486-9DBB4466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5435B7-E701-4A24-A0CA-8E8A0C235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4191C-B9C6-45B9-B56D-AAC77639D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42901-1FF4-4855-A2C8-5FE62214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863E3-6DA9-43ED-8E64-EFBFAF0F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555BD-EB6C-4486-93E8-4DD22EEF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76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0DB5F-BB76-4934-98CF-B1479BF4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BB61C-E5B1-415E-951C-B4FC880B2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A041-610E-490E-9938-D0249B19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BE00D-5791-467B-B079-2526A73D4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0B99E-56D9-485E-A1B6-D17AADA96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6028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C31FF-1366-43AE-B448-FC690DFDF9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53389-D654-4599-8DAF-4410037F7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8278B-2669-4B90-A99C-86506D9F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51E6D-185A-4C4F-B8D8-B1D25EFCB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9D4FE-8398-45F9-9E55-C86ED407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853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8AF6E6-E41B-45A4-83D4-92869962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0EBF5-5824-4C4F-8D08-17EC058A9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9E260-3E4C-4F2D-B835-F680A6900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D6F53-2F44-4D18-8806-1251108AE7F3}" type="datetimeFigureOut">
              <a:rPr lang="en-ID" smtClean="0"/>
              <a:t>15/12/2020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6043F-C9E8-495D-A5E9-0B0E31669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876A-9B1D-420B-9BE6-466F0030C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91A04-58D1-4F26-973B-A7AF73FD30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263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ho.int/indonesia/news/novel-coronavirus/qa-for-publi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vid19.go.id/peta-risiko" TargetMode="External"/><Relationship Id="rId2" Type="http://schemas.openxmlformats.org/officeDocument/2006/relationships/hyperlink" Target="https://covid19.go.id/peta-sebara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vid19.kemkes.go.id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npb-inacovid19.hub.arcgis.com/search?collection=Datase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392A-2605-4CE7-93B0-D8C4939E3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067" y="1052378"/>
            <a:ext cx="11603865" cy="1655762"/>
          </a:xfrm>
        </p:spPr>
        <p:txBody>
          <a:bodyPr>
            <a:normAutofit/>
          </a:bodyPr>
          <a:lstStyle/>
          <a:p>
            <a:r>
              <a:rPr lang="en-US" sz="3400" dirty="0" err="1"/>
              <a:t>Siminar</a:t>
            </a:r>
            <a:r>
              <a:rPr lang="en-US" sz="3400" dirty="0"/>
              <a:t> Daring</a:t>
            </a:r>
            <a:br>
              <a:rPr lang="en-US" sz="3400" dirty="0"/>
            </a:br>
            <a:r>
              <a:rPr lang="en-US" sz="3400" dirty="0"/>
              <a:t>Analisa Data </a:t>
            </a:r>
            <a:r>
              <a:rPr lang="en-US" sz="3400" dirty="0" err="1"/>
              <a:t>Statistik</a:t>
            </a:r>
            <a:r>
              <a:rPr lang="en-US" sz="3400" dirty="0"/>
              <a:t> dan </a:t>
            </a:r>
            <a:r>
              <a:rPr lang="en-US" sz="3400" dirty="0" err="1"/>
              <a:t>Visualisasi</a:t>
            </a:r>
            <a:r>
              <a:rPr lang="en-US" sz="3400" dirty="0"/>
              <a:t> Data Covid-19 Di Indonesia</a:t>
            </a:r>
            <a:endParaRPr lang="en-ID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0E0AF-579E-49AE-9FC7-7894CE5546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 dirty="0"/>
          </a:p>
          <a:p>
            <a:r>
              <a:rPr lang="en-ID" dirty="0" err="1"/>
              <a:t>Nurhayati</a:t>
            </a:r>
            <a:r>
              <a:rPr lang="en-ID" dirty="0"/>
              <a:t>, </a:t>
            </a:r>
            <a:r>
              <a:rPr lang="en-ID" dirty="0" err="1"/>
              <a:t>Ph.D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72706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5993-F483-46D9-AFCF-895C1F56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Covid-19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F2989-71E8-4275-9755-5B29B691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39907" cy="4667250"/>
          </a:xfrm>
        </p:spPr>
        <p:txBody>
          <a:bodyPr>
            <a:normAutofit/>
          </a:bodyPr>
          <a:lstStyle/>
          <a:p>
            <a:pPr algn="just"/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COVID-19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adalah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penyakit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menular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disebabkan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oleh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jenis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coronavirus yang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baru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ditemukan</a:t>
            </a:r>
            <a:endParaRPr lang="en-ID" sz="2400" i="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Virus Corona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atau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severe acute respiratory syndrome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</a:t>
            </a:r>
            <a:r>
              <a:rPr lang="en-ID" sz="2400" i="1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coronavirus 2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 (SARS-CoV</a:t>
            </a:r>
            <a:r>
              <a:rPr lang="en-ID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2)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adalah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virus yang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menyerang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sistem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pernapasan</a:t>
            </a:r>
            <a:endParaRPr lang="en-ID" sz="2400" i="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sv-SE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Virus Corona bisa menyebabkan gangguan ringan pada sistem pernapasan, infeksi paru-paru yang berat, hingga kematian.</a:t>
            </a:r>
            <a:endParaRPr lang="en-ID" sz="2400" i="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Beberapa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jenis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coronavirus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diketahui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menyebabkan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infeksi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saluran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nafas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pada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manusia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mulai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dari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batuk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pilek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hingga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lebih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serius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seperti</a:t>
            </a:r>
            <a:r>
              <a:rPr lang="en-ID" sz="2400" i="0" dirty="0"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Middle East Respiratory Syndrome (MERS) dan Severe Acute Respiratory Syndrome (SARS).</a:t>
            </a:r>
            <a:endParaRPr lang="en-ID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endParaRPr lang="en-ID" sz="1800" dirty="0">
              <a:solidFill>
                <a:srgbClr val="0563C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 algn="r">
              <a:buNone/>
            </a:pPr>
            <a:r>
              <a:rPr lang="en-ID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https://www.who.int/indonesia/news/novel-coronavirus/qa-for-public</a:t>
            </a:r>
            <a:endParaRPr lang="en-ID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ID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https://www.alodokter.com/virus-corona</a:t>
            </a:r>
          </a:p>
          <a:p>
            <a:endParaRPr lang="en-ID" sz="2400" i="0" dirty="0"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66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1392-ACE7-44C3-812E-60978EAD0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D" i="0" dirty="0" err="1">
                <a:effectLst/>
              </a:rPr>
              <a:t>Apa</a:t>
            </a:r>
            <a:r>
              <a:rPr lang="en-ID" i="0" dirty="0">
                <a:effectLst/>
              </a:rPr>
              <a:t> </a:t>
            </a:r>
            <a:r>
              <a:rPr lang="en-ID" i="0" dirty="0" err="1">
                <a:effectLst/>
              </a:rPr>
              <a:t>saja</a:t>
            </a:r>
            <a:r>
              <a:rPr lang="en-ID" i="0" dirty="0">
                <a:effectLst/>
              </a:rPr>
              <a:t> </a:t>
            </a:r>
            <a:r>
              <a:rPr lang="en-ID" i="0" dirty="0" err="1">
                <a:effectLst/>
              </a:rPr>
              <a:t>pencegahan</a:t>
            </a:r>
            <a:r>
              <a:rPr lang="en-ID" i="0" dirty="0">
                <a:effectLst/>
              </a:rPr>
              <a:t> covid-19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3BA21-95F3-4F79-8125-C43725580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2296"/>
          </a:xfrm>
        </p:spPr>
        <p:txBody>
          <a:bodyPr>
            <a:normAutofit/>
          </a:bodyPr>
          <a:lstStyle/>
          <a:p>
            <a:pPr algn="just"/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Seringlah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mencuci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tangan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Anda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air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bersih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mengalir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sabun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cairan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antiseptik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berbahan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alcohol</a:t>
            </a:r>
          </a:p>
          <a:p>
            <a:pPr algn="just"/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Jaga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jarak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setidaknya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 meter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orang lain</a:t>
            </a:r>
            <a:endParaRPr lang="en-ID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Hindari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pergi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tempat-tempat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ramai</a:t>
            </a:r>
            <a:r>
              <a:rPr lang="en-ID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fi-FI" sz="24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Hindari menyentuh mata, hidung, dan mulut</a:t>
            </a:r>
            <a:endParaRPr lang="en-ID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Jalankan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etika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batuk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bersin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cara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menutup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mulut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hidung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siku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terlipat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tisu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Jika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tisu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segera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buang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cuci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tangan</a:t>
            </a:r>
            <a:r>
              <a:rPr lang="en-ID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Tetap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ikuti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terbaru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ID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terpercaya</a:t>
            </a:r>
            <a:endParaRPr lang="en-ID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endParaRPr lang="en-ID" sz="18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ID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https://www.who.int/indonesia/news/novel-coronavirus/qa-for-public</a:t>
            </a:r>
          </a:p>
        </p:txBody>
      </p:sp>
    </p:spTree>
    <p:extLst>
      <p:ext uri="{BB962C8B-B14F-4D97-AF65-F5344CB8AC3E}">
        <p14:creationId xmlns:p14="http://schemas.microsoft.com/office/powerpoint/2010/main" val="3961518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55F15-04D8-4978-A921-7769A921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Siapa</a:t>
            </a:r>
            <a:r>
              <a:rPr lang="en-US" dirty="0"/>
              <a:t> yang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covid-19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0577-C681-4CCD-B61B-C17C33F50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/>
              <a:t>Satgas</a:t>
            </a:r>
            <a:r>
              <a:rPr lang="en-US" dirty="0"/>
              <a:t> </a:t>
            </a:r>
            <a:r>
              <a:rPr lang="en-US" dirty="0" err="1"/>
              <a:t>Penanganan</a:t>
            </a:r>
            <a:r>
              <a:rPr lang="en-US" dirty="0"/>
              <a:t> Covid-19</a:t>
            </a:r>
          </a:p>
          <a:p>
            <a:pPr lvl="1"/>
            <a:r>
              <a:rPr lang="en-US" dirty="0"/>
              <a:t>(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https://covid19.go.id/peta-sebaran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(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https://covid19.go.id/peta-risiko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Kementrian</a:t>
            </a:r>
            <a:r>
              <a:rPr lang="en-US" dirty="0"/>
              <a:t> Kesehatan</a:t>
            </a:r>
          </a:p>
          <a:p>
            <a:pPr lvl="1"/>
            <a:r>
              <a:rPr lang="en-US" dirty="0"/>
              <a:t>(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https://covid19.kemkes.go.id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instansi</a:t>
            </a:r>
            <a:r>
              <a:rPr lang="en-US" dirty="0"/>
              <a:t> </a:t>
            </a:r>
            <a:r>
              <a:rPr lang="en-US" dirty="0" err="1"/>
              <a:t>terkait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10052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1C90-ECBE-4AA1-84BA-7DD53D3E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 covid-19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F06423-FB11-4FA6-8760-392B4D30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47" y="1426452"/>
            <a:ext cx="10405056" cy="470258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776DF8-5AC8-43FE-9046-C032082AE5DA}"/>
              </a:ext>
            </a:extLst>
          </p:cNvPr>
          <p:cNvSpPr txBox="1"/>
          <p:nvPr/>
        </p:nvSpPr>
        <p:spPr>
          <a:xfrm>
            <a:off x="838200" y="6038662"/>
            <a:ext cx="517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Time Series Plot</a:t>
            </a:r>
          </a:p>
          <a:p>
            <a:r>
              <a:rPr lang="en-US" dirty="0" err="1"/>
              <a:t>Sumber</a:t>
            </a:r>
            <a:r>
              <a:rPr lang="en-US" dirty="0"/>
              <a:t> : https://covid19.go.id/peta-sebaran-covid19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56945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24D671-78F5-48C4-9252-B6EC3C943E94}"/>
              </a:ext>
            </a:extLst>
          </p:cNvPr>
          <p:cNvSpPr txBox="1"/>
          <p:nvPr/>
        </p:nvSpPr>
        <p:spPr>
          <a:xfrm>
            <a:off x="1029376" y="5775336"/>
            <a:ext cx="517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Stacked </a:t>
            </a:r>
            <a:r>
              <a:rPr lang="en-US" dirty="0" err="1"/>
              <a:t>Barplot</a:t>
            </a:r>
            <a:endParaRPr lang="en-US" dirty="0"/>
          </a:p>
          <a:p>
            <a:r>
              <a:rPr lang="en-US" dirty="0" err="1"/>
              <a:t>Sumber</a:t>
            </a:r>
            <a:r>
              <a:rPr lang="en-US" dirty="0"/>
              <a:t> : https://covid19.go.id/peta-sebaran-covid19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1E7314-0DC6-49E7-8973-7731AEA90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76" y="1082663"/>
            <a:ext cx="10133248" cy="469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9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BED033-314B-47F4-B107-256C4C614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75" y="1252326"/>
            <a:ext cx="10515600" cy="43533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AD3587-AA32-4A87-BBCC-91FAD9E61E33}"/>
              </a:ext>
            </a:extLst>
          </p:cNvPr>
          <p:cNvSpPr txBox="1"/>
          <p:nvPr/>
        </p:nvSpPr>
        <p:spPr>
          <a:xfrm>
            <a:off x="838200" y="5605673"/>
            <a:ext cx="517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Barplot</a:t>
            </a:r>
            <a:r>
              <a:rPr lang="en-US" dirty="0"/>
              <a:t> </a:t>
            </a:r>
            <a:r>
              <a:rPr lang="en-US" dirty="0" err="1"/>
              <a:t>Barplot</a:t>
            </a:r>
            <a:endParaRPr lang="en-US" dirty="0"/>
          </a:p>
          <a:p>
            <a:r>
              <a:rPr lang="en-US" dirty="0" err="1"/>
              <a:t>Sumber</a:t>
            </a:r>
            <a:r>
              <a:rPr lang="en-US" dirty="0"/>
              <a:t> : https://covid19.go.id/peta-sebaran-covid19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12356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0AD3587-AA32-4A87-BBCC-91FAD9E61E33}"/>
              </a:ext>
            </a:extLst>
          </p:cNvPr>
          <p:cNvSpPr txBox="1"/>
          <p:nvPr/>
        </p:nvSpPr>
        <p:spPr>
          <a:xfrm>
            <a:off x="838200" y="5761278"/>
            <a:ext cx="5179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Peta </a:t>
            </a:r>
            <a:r>
              <a:rPr lang="en-US" dirty="0" err="1"/>
              <a:t>Tematik</a:t>
            </a:r>
            <a:endParaRPr lang="en-US" dirty="0"/>
          </a:p>
          <a:p>
            <a:r>
              <a:rPr lang="en-US" dirty="0" err="1"/>
              <a:t>Sumber</a:t>
            </a:r>
            <a:r>
              <a:rPr lang="en-US" dirty="0"/>
              <a:t> : https://covid19.go.id/peta-sebaran-covid19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8D8B0-9CD5-4F02-8B2F-7B2009C2E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6722"/>
            <a:ext cx="10515599" cy="466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31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800D9-CB17-40D3-819A-AE0981249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…?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2FAF2-8910-4A01-8043-5266DA2BE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 	=&gt; Anaconda3, </a:t>
            </a:r>
            <a:r>
              <a:rPr lang="en-US" dirty="0" err="1"/>
              <a:t>JupyterLab</a:t>
            </a:r>
            <a:r>
              <a:rPr lang="en-US" dirty="0"/>
              <a:t>, Bahasa Python</a:t>
            </a:r>
          </a:p>
          <a:p>
            <a:r>
              <a:rPr lang="en-US" dirty="0" err="1"/>
              <a:t>Alternatif</a:t>
            </a:r>
            <a:r>
              <a:rPr lang="en-US" dirty="0"/>
              <a:t>	=&gt; Google </a:t>
            </a:r>
            <a:r>
              <a:rPr lang="en-US" dirty="0" err="1"/>
              <a:t>colab</a:t>
            </a:r>
            <a:endParaRPr lang="en-US" dirty="0"/>
          </a:p>
          <a:p>
            <a:r>
              <a:rPr lang="en-US" dirty="0">
                <a:solidFill>
                  <a:srgbClr val="292929"/>
                </a:solidFill>
                <a:latin typeface="sohne"/>
              </a:rPr>
              <a:t>Library 	=&gt; </a:t>
            </a:r>
            <a:r>
              <a:rPr lang="en-US" dirty="0" err="1">
                <a:solidFill>
                  <a:srgbClr val="292929"/>
                </a:solidFill>
                <a:latin typeface="sohne"/>
              </a:rPr>
              <a:t>Numpy</a:t>
            </a:r>
            <a:r>
              <a:rPr lang="en-US" dirty="0">
                <a:solidFill>
                  <a:srgbClr val="292929"/>
                </a:solidFill>
                <a:latin typeface="sohne"/>
              </a:rPr>
              <a:t>, Pandas, </a:t>
            </a:r>
            <a:r>
              <a:rPr lang="en-US" dirty="0" err="1">
                <a:solidFill>
                  <a:srgbClr val="292929"/>
                </a:solidFill>
                <a:latin typeface="sohne"/>
              </a:rPr>
              <a:t>Scipy</a:t>
            </a:r>
            <a:r>
              <a:rPr lang="en-US" dirty="0">
                <a:solidFill>
                  <a:srgbClr val="292929"/>
                </a:solidFill>
                <a:latin typeface="sohne"/>
              </a:rPr>
              <a:t>, Matplotlib, Seaborn</a:t>
            </a:r>
            <a:endParaRPr lang="en-ID" dirty="0">
              <a:solidFill>
                <a:srgbClr val="292929"/>
              </a:solidFill>
              <a:latin typeface="sohn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37AF2-04E0-4260-8260-F1D2588051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911"/>
          <a:stretch/>
        </p:blipFill>
        <p:spPr>
          <a:xfrm>
            <a:off x="796895" y="3418745"/>
            <a:ext cx="5278453" cy="2673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36A6F8-AC7F-496F-9877-8BAC266FB3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586"/>
          <a:stretch/>
        </p:blipFill>
        <p:spPr>
          <a:xfrm>
            <a:off x="6116653" y="3418745"/>
            <a:ext cx="5695745" cy="2673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A7B513-6685-4677-BB31-0AE8BB3DF305}"/>
              </a:ext>
            </a:extLst>
          </p:cNvPr>
          <p:cNvSpPr txBox="1"/>
          <p:nvPr/>
        </p:nvSpPr>
        <p:spPr>
          <a:xfrm>
            <a:off x="2406812" y="6123543"/>
            <a:ext cx="2141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Tampilan</a:t>
            </a:r>
            <a:r>
              <a:rPr lang="en-US" dirty="0"/>
              <a:t> Anaconda3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DD195-6AAF-4795-B7D9-E76EAA17398D}"/>
              </a:ext>
            </a:extLst>
          </p:cNvPr>
          <p:cNvSpPr txBox="1"/>
          <p:nvPr/>
        </p:nvSpPr>
        <p:spPr>
          <a:xfrm>
            <a:off x="7910229" y="6123543"/>
            <a:ext cx="2108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Tampilan</a:t>
            </a:r>
            <a:r>
              <a:rPr lang="en-US" dirty="0"/>
              <a:t> </a:t>
            </a:r>
            <a:r>
              <a:rPr lang="en-US" dirty="0" err="1"/>
              <a:t>JupyterLab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41071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BCB6-5EC1-4218-AF61-E3EF35A2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Sekilas</a:t>
            </a:r>
            <a:r>
              <a:rPr lang="en-US" dirty="0"/>
              <a:t> Bahasa Python … 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FBC9-83A5-4C72-B896-FF8B647DF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alibri (Body)"/>
              </a:rPr>
              <a:t>Dibuat</a:t>
            </a:r>
            <a:r>
              <a:rPr lang="en-US" dirty="0">
                <a:latin typeface="Calibri (Body)"/>
              </a:rPr>
              <a:t> Guido van Rossum </a:t>
            </a:r>
            <a:r>
              <a:rPr lang="en-US" dirty="0" err="1">
                <a:latin typeface="Calibri (Body)"/>
              </a:rPr>
              <a:t>tahun</a:t>
            </a:r>
            <a:r>
              <a:rPr lang="en-US" dirty="0">
                <a:latin typeface="Calibri (Body)"/>
              </a:rPr>
              <a:t> 1991</a:t>
            </a:r>
          </a:p>
          <a:p>
            <a:r>
              <a:rPr lang="en-US" dirty="0" err="1">
                <a:latin typeface="Calibri (Body)"/>
              </a:rPr>
              <a:t>Bersifat</a:t>
            </a:r>
            <a:r>
              <a:rPr lang="en-US" dirty="0">
                <a:latin typeface="Calibri (Body)"/>
              </a:rPr>
              <a:t> compiler dan interpreter</a:t>
            </a:r>
          </a:p>
          <a:p>
            <a:r>
              <a:rPr lang="en-US" dirty="0">
                <a:latin typeface="Calibri (Body)"/>
              </a:rPr>
              <a:t>Format </a:t>
            </a:r>
            <a:r>
              <a:rPr lang="en-US" dirty="0" err="1">
                <a:latin typeface="Calibri (Body)"/>
              </a:rPr>
              <a:t>penulisan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ringkas</a:t>
            </a:r>
            <a:r>
              <a:rPr lang="en-US" dirty="0">
                <a:latin typeface="Calibri (Body)"/>
              </a:rPr>
              <a:t>, </a:t>
            </a:r>
            <a:r>
              <a:rPr lang="en-US" dirty="0" err="1">
                <a:latin typeface="Calibri (Body)"/>
              </a:rPr>
              <a:t>mudah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dipahami</a:t>
            </a:r>
            <a:endParaRPr lang="en-US" dirty="0">
              <a:latin typeface="Calibri (Body)"/>
            </a:endParaRPr>
          </a:p>
          <a:p>
            <a:r>
              <a:rPr lang="en-US" dirty="0" err="1">
                <a:latin typeface="Calibri (Body)"/>
              </a:rPr>
              <a:t>Dokumentasi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nya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lengkap</a:t>
            </a:r>
            <a:r>
              <a:rPr lang="en-US" dirty="0">
                <a:latin typeface="Calibri (Body)"/>
              </a:rPr>
              <a:t> (https://www.python.org/)</a:t>
            </a:r>
          </a:p>
          <a:p>
            <a:r>
              <a:rPr lang="en-US" dirty="0">
                <a:latin typeface="Calibri (Body)"/>
              </a:rPr>
              <a:t>Bahasa yang </a:t>
            </a:r>
            <a:r>
              <a:rPr lang="en-US" dirty="0" err="1">
                <a:latin typeface="Calibri (Body)"/>
              </a:rPr>
              <a:t>digunakan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untuk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bidang</a:t>
            </a:r>
            <a:r>
              <a:rPr lang="en-US" dirty="0">
                <a:latin typeface="Calibri (Body)"/>
              </a:rPr>
              <a:t> Data Science, </a:t>
            </a:r>
            <a:r>
              <a:rPr lang="en-US" dirty="0" err="1">
                <a:latin typeface="Calibri (Body)"/>
              </a:rPr>
              <a:t>dll</a:t>
            </a:r>
            <a:r>
              <a:rPr lang="en-US" dirty="0">
                <a:latin typeface="Calibri (Body)"/>
              </a:rPr>
              <a:t>.</a:t>
            </a:r>
          </a:p>
          <a:p>
            <a:pPr marL="0" indent="0">
              <a:buNone/>
            </a:pPr>
            <a:endParaRPr lang="en-ID" dirty="0">
              <a:latin typeface="Calibri (Body)"/>
            </a:endParaRPr>
          </a:p>
        </p:txBody>
      </p:sp>
      <p:pic>
        <p:nvPicPr>
          <p:cNvPr id="1028" name="Picture 4" descr="Python: Aku Gampang Kok Dipelajari | by Andreas Chandra | Medium">
            <a:extLst>
              <a:ext uri="{FF2B5EF4-FFF2-40B4-BE49-F238E27FC236}">
                <a16:creationId xmlns:a16="http://schemas.microsoft.com/office/drawing/2014/main" id="{6962927C-C2D7-425C-A452-8F37C8C8F4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3" t="6719" r="3955" b="24726"/>
          <a:stretch/>
        </p:blipFill>
        <p:spPr bwMode="auto">
          <a:xfrm>
            <a:off x="8102362" y="556490"/>
            <a:ext cx="3251438" cy="94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6C9763-FEA3-4D4D-A30F-5E78B598C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90" y="4405829"/>
            <a:ext cx="4699715" cy="7856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0ACF7C-721E-4AA9-BDC7-EBB68821A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976" y="4353060"/>
            <a:ext cx="2228047" cy="21398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B2A9ED-06E8-405D-A8C7-186CDE015C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833" y="4353060"/>
            <a:ext cx="3316848" cy="190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82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BCB6-5EC1-4218-AF61-E3EF35A2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Sekilas</a:t>
            </a:r>
            <a:r>
              <a:rPr lang="en-US" dirty="0"/>
              <a:t> Analisa </a:t>
            </a:r>
            <a:r>
              <a:rPr lang="en-US" dirty="0" err="1"/>
              <a:t>Statistik</a:t>
            </a:r>
            <a:r>
              <a:rPr lang="en-US" dirty="0"/>
              <a:t> di Python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FBC9-83A5-4C72-B896-FF8B647DF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19473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BCB6-5EC1-4218-AF61-E3EF35A2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Sekilas</a:t>
            </a:r>
            <a:r>
              <a:rPr lang="en-US" dirty="0"/>
              <a:t> Analisa </a:t>
            </a:r>
            <a:r>
              <a:rPr lang="en-US" dirty="0" err="1"/>
              <a:t>Visualisasi</a:t>
            </a:r>
            <a:r>
              <a:rPr lang="en-US" dirty="0"/>
              <a:t> di Python</a:t>
            </a:r>
            <a:endParaRPr lang="en-ID" dirty="0"/>
          </a:p>
        </p:txBody>
      </p:sp>
      <p:pic>
        <p:nvPicPr>
          <p:cNvPr id="5" name="Picture 4" descr="pie-chart with percentage and labels">
            <a:extLst>
              <a:ext uri="{FF2B5EF4-FFF2-40B4-BE49-F238E27FC236}">
                <a16:creationId xmlns:a16="http://schemas.microsoft.com/office/drawing/2014/main" id="{856EAAF1-8C69-4CC5-9210-13154AB51E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3" t="12455" r="14626"/>
          <a:stretch/>
        </p:blipFill>
        <p:spPr bwMode="auto">
          <a:xfrm>
            <a:off x="467102" y="2026863"/>
            <a:ext cx="3878369" cy="364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Bar Chart with title using R">
            <a:extLst>
              <a:ext uri="{FF2B5EF4-FFF2-40B4-BE49-F238E27FC236}">
                <a16:creationId xmlns:a16="http://schemas.microsoft.com/office/drawing/2014/main" id="{C8C0D61B-9FC0-4631-9285-1DD635793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471" y="2026863"/>
            <a:ext cx="3878369" cy="364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Box Plot using R">
            <a:extLst>
              <a:ext uri="{FF2B5EF4-FFF2-40B4-BE49-F238E27FC236}">
                <a16:creationId xmlns:a16="http://schemas.microsoft.com/office/drawing/2014/main" id="{08EE3B2C-3999-4F27-AB3E-8268D455F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840" y="2026863"/>
            <a:ext cx="3609500" cy="364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E99E6A-9ECA-4B34-85D2-11325DB10C35}"/>
              </a:ext>
            </a:extLst>
          </p:cNvPr>
          <p:cNvSpPr txBox="1"/>
          <p:nvPr/>
        </p:nvSpPr>
        <p:spPr>
          <a:xfrm>
            <a:off x="1532963" y="5671066"/>
            <a:ext cx="1037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Pie Chart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0920BD-07C8-49E7-85B1-C9B16DDBA216}"/>
              </a:ext>
            </a:extLst>
          </p:cNvPr>
          <p:cNvSpPr txBox="1"/>
          <p:nvPr/>
        </p:nvSpPr>
        <p:spPr>
          <a:xfrm>
            <a:off x="5751496" y="5671066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 Chart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AD11B3-2687-4C9A-BB8D-93308052BAC3}"/>
              </a:ext>
            </a:extLst>
          </p:cNvPr>
          <p:cNvSpPr txBox="1"/>
          <p:nvPr/>
        </p:nvSpPr>
        <p:spPr>
          <a:xfrm>
            <a:off x="9796257" y="5671066"/>
            <a:ext cx="89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Boxplot</a:t>
            </a:r>
          </a:p>
        </p:txBody>
      </p:sp>
    </p:spTree>
    <p:extLst>
      <p:ext uri="{BB962C8B-B14F-4D97-AF65-F5344CB8AC3E}">
        <p14:creationId xmlns:p14="http://schemas.microsoft.com/office/powerpoint/2010/main" val="3489382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BCB6-5EC1-4218-AF61-E3EF35A22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Sekilas</a:t>
            </a:r>
            <a:r>
              <a:rPr lang="en-US" dirty="0"/>
              <a:t> Analisa </a:t>
            </a:r>
            <a:r>
              <a:rPr lang="en-US" dirty="0" err="1"/>
              <a:t>Visualisasi</a:t>
            </a:r>
            <a:r>
              <a:rPr lang="en-US" dirty="0"/>
              <a:t> di Python</a:t>
            </a:r>
            <a:endParaRPr lang="en-ID" dirty="0"/>
          </a:p>
        </p:txBody>
      </p:sp>
      <p:pic>
        <p:nvPicPr>
          <p:cNvPr id="4" name="Picture 2" descr="Histogram Of V">
            <a:extLst>
              <a:ext uri="{FF2B5EF4-FFF2-40B4-BE49-F238E27FC236}">
                <a16:creationId xmlns:a16="http://schemas.microsoft.com/office/drawing/2014/main" id="{3166A24E-5F4C-4B83-95E4-FE28089415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87" y="1690688"/>
            <a:ext cx="3859307" cy="40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ine Chart Labeled with Title in R">
            <a:extLst>
              <a:ext uri="{FF2B5EF4-FFF2-40B4-BE49-F238E27FC236}">
                <a16:creationId xmlns:a16="http://schemas.microsoft.com/office/drawing/2014/main" id="{F0476F12-1560-4D68-9A6B-60DB33FDB1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0"/>
          <a:stretch/>
        </p:blipFill>
        <p:spPr bwMode="auto">
          <a:xfrm>
            <a:off x="4141694" y="1690688"/>
            <a:ext cx="3872753" cy="40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catter Plot using R">
            <a:extLst>
              <a:ext uri="{FF2B5EF4-FFF2-40B4-BE49-F238E27FC236}">
                <a16:creationId xmlns:a16="http://schemas.microsoft.com/office/drawing/2014/main" id="{A95683CF-D9FF-4D60-A453-9B87ED51D8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3"/>
          <a:stretch/>
        </p:blipFill>
        <p:spPr bwMode="auto">
          <a:xfrm>
            <a:off x="8014447" y="1690688"/>
            <a:ext cx="3678944" cy="405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45F6-3765-4C0F-844B-9AA01506235D}"/>
              </a:ext>
            </a:extLst>
          </p:cNvPr>
          <p:cNvSpPr txBox="1"/>
          <p:nvPr/>
        </p:nvSpPr>
        <p:spPr>
          <a:xfrm>
            <a:off x="1639576" y="5743803"/>
            <a:ext cx="114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Histogram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59340D-AA02-4853-ADD5-A1B5079214D3}"/>
              </a:ext>
            </a:extLst>
          </p:cNvPr>
          <p:cNvSpPr txBox="1"/>
          <p:nvPr/>
        </p:nvSpPr>
        <p:spPr>
          <a:xfrm>
            <a:off x="5498883" y="5743803"/>
            <a:ext cx="1411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 Chart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58AAE8-EE44-4496-8F23-5A10F38A2220}"/>
              </a:ext>
            </a:extLst>
          </p:cNvPr>
          <p:cNvSpPr txBox="1"/>
          <p:nvPr/>
        </p:nvSpPr>
        <p:spPr>
          <a:xfrm>
            <a:off x="9467133" y="5743803"/>
            <a:ext cx="1261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Scatter Plot</a:t>
            </a:r>
          </a:p>
        </p:txBody>
      </p:sp>
    </p:spTree>
    <p:extLst>
      <p:ext uri="{BB962C8B-B14F-4D97-AF65-F5344CB8AC3E}">
        <p14:creationId xmlns:p14="http://schemas.microsoft.com/office/powerpoint/2010/main" val="1088889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C108-E067-4481-9B67-9BB253C6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Membuat</a:t>
            </a:r>
            <a:r>
              <a:rPr lang="en-US" sz="4000" dirty="0"/>
              <a:t> </a:t>
            </a:r>
            <a:r>
              <a:rPr lang="en-US" sz="4000" dirty="0" err="1"/>
              <a:t>Visualisasi</a:t>
            </a:r>
            <a:r>
              <a:rPr lang="en-US" sz="4000" dirty="0"/>
              <a:t> dan Analisa </a:t>
            </a:r>
            <a:r>
              <a:rPr lang="en-US" sz="4000" dirty="0" err="1"/>
              <a:t>Statistik</a:t>
            </a:r>
            <a:r>
              <a:rPr lang="en-US" sz="4000" dirty="0"/>
              <a:t> Covid-19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1518B-A048-4C48-A888-99E39AF7D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covid-19 </a:t>
            </a:r>
            <a:r>
              <a:rPr lang="en-US" dirty="0" err="1"/>
              <a:t>yaitu</a:t>
            </a:r>
            <a:r>
              <a:rPr lang="en-US" dirty="0"/>
              <a:t> </a:t>
            </a:r>
          </a:p>
          <a:p>
            <a:pPr marL="514350" indent="-514350">
              <a:buAutoNum type="arabicPeriod"/>
            </a:pPr>
            <a:r>
              <a:rPr lang="en-US" dirty="0" err="1"/>
              <a:t>Akuisisi</a:t>
            </a:r>
            <a:r>
              <a:rPr lang="en-US" dirty="0"/>
              <a:t> Data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unduh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satgas</a:t>
            </a:r>
            <a:r>
              <a:rPr lang="en-US" dirty="0"/>
              <a:t> covid-19</a:t>
            </a:r>
          </a:p>
          <a:p>
            <a:pPr marL="514350" indent="-514350">
              <a:buAutoNum type="arabicPeriod"/>
            </a:pPr>
            <a:r>
              <a:rPr lang="en-US" dirty="0" err="1"/>
              <a:t>Seleksi</a:t>
            </a:r>
            <a:r>
              <a:rPr lang="en-US" dirty="0"/>
              <a:t> Fitur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variable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digunakan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pustaka</a:t>
            </a:r>
            <a:r>
              <a:rPr lang="en-US" dirty="0"/>
              <a:t> Bahasa python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i="1" dirty="0"/>
              <a:t>Data Science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971060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5389-9987-4BA9-8800-D5847680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Akuisisi</a:t>
            </a:r>
            <a:r>
              <a:rPr lang="en-US" dirty="0"/>
              <a:t> Data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4F484-C2A2-4F98-811E-83299BC50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unduh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Satgas</a:t>
            </a:r>
            <a:r>
              <a:rPr lang="en-US" dirty="0"/>
              <a:t> Covid-19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milih</a:t>
            </a:r>
            <a:r>
              <a:rPr lang="en-US" dirty="0"/>
              <a:t> data</a:t>
            </a:r>
          </a:p>
          <a:p>
            <a:pPr marL="514350" indent="-514350">
              <a:buAutoNum type="arabicPeriod"/>
            </a:pP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Perkembangan</a:t>
            </a:r>
            <a:r>
              <a:rPr lang="en-US" dirty="0"/>
              <a:t> Covid-19 New</a:t>
            </a:r>
          </a:p>
          <a:p>
            <a:pPr marL="514350" indent="-514350">
              <a:buAutoNum type="arabicPeriod"/>
            </a:pPr>
            <a:r>
              <a:rPr lang="en-US" dirty="0"/>
              <a:t>Data </a:t>
            </a:r>
            <a:r>
              <a:rPr lang="en-US" dirty="0" err="1"/>
              <a:t>Harian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Per </a:t>
            </a:r>
            <a:r>
              <a:rPr lang="en-US" dirty="0" err="1"/>
              <a:t>Provinsi</a:t>
            </a:r>
            <a:r>
              <a:rPr lang="en-US" dirty="0"/>
              <a:t> Covid-19 Di Indonesia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tersedia</a:t>
            </a:r>
            <a:r>
              <a:rPr lang="en-US" dirty="0"/>
              <a:t> di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https://bnpb-inacovid19.hub.arcgis.com/search?collection=Dataset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620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2B4E-B9B2-45E0-9A27-3A5D0D68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Seleksi</a:t>
            </a:r>
            <a:r>
              <a:rPr lang="en-US" dirty="0"/>
              <a:t> Fitur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Pertama</a:t>
            </a:r>
            <a:endParaRPr lang="en-ID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5815144-5B89-41EC-9115-88492D1E00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164509"/>
              </p:ext>
            </p:extLst>
          </p:nvPr>
        </p:nvGraphicFramePr>
        <p:xfrm>
          <a:off x="838200" y="2427757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7586">
                  <a:extLst>
                    <a:ext uri="{9D8B030D-6E8A-4147-A177-3AD203B41FA5}">
                      <a16:colId xmlns:a16="http://schemas.microsoft.com/office/drawing/2014/main" val="3747508915"/>
                    </a:ext>
                  </a:extLst>
                </a:gridCol>
                <a:gridCol w="1820214">
                  <a:extLst>
                    <a:ext uri="{9D8B030D-6E8A-4147-A177-3AD203B41FA5}">
                      <a16:colId xmlns:a16="http://schemas.microsoft.com/office/drawing/2014/main" val="1095613996"/>
                    </a:ext>
                  </a:extLst>
                </a:gridCol>
                <a:gridCol w="3369972">
                  <a:extLst>
                    <a:ext uri="{9D8B030D-6E8A-4147-A177-3AD203B41FA5}">
                      <a16:colId xmlns:a16="http://schemas.microsoft.com/office/drawing/2014/main" val="437056397"/>
                    </a:ext>
                  </a:extLst>
                </a:gridCol>
                <a:gridCol w="1887828">
                  <a:extLst>
                    <a:ext uri="{9D8B030D-6E8A-4147-A177-3AD203B41FA5}">
                      <a16:colId xmlns:a16="http://schemas.microsoft.com/office/drawing/2014/main" val="22739345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Nama </a:t>
                      </a:r>
                      <a:r>
                        <a:rPr lang="en-US" dirty="0" err="1"/>
                        <a:t>Variabel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Tipe</a:t>
                      </a:r>
                      <a:r>
                        <a:rPr lang="en-US" dirty="0"/>
                        <a:t> Data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Nama </a:t>
                      </a:r>
                      <a:r>
                        <a:rPr lang="en-US" dirty="0" err="1"/>
                        <a:t>Variabel</a:t>
                      </a:r>
                      <a:r>
                        <a:rPr lang="en-US" dirty="0"/>
                        <a:t>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Tipe</a:t>
                      </a:r>
                      <a:r>
                        <a:rPr lang="en-US" dirty="0"/>
                        <a:t> Data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80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Tanggal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Baru</a:t>
                      </a:r>
                      <a:r>
                        <a:rPr lang="en-US" dirty="0"/>
                        <a:t> Per Hari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45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Kumulatif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Sembuh</a:t>
                      </a:r>
                      <a:r>
                        <a:rPr lang="en-US" dirty="0"/>
                        <a:t> Per Hari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Pasien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Sembuh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Meninggal</a:t>
                      </a:r>
                      <a:r>
                        <a:rPr lang="en-US" dirty="0"/>
                        <a:t> Per Hari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08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Pasien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Meninggal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Persentase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Pasien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Sembuh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52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Pasien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Dalam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Perawatan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Persentase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Pasien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Meninggal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042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Jumlah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Dirawat</a:t>
                      </a:r>
                      <a:r>
                        <a:rPr lang="en-US" dirty="0"/>
                        <a:t> Per Hari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3659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2B3A47-8A73-4FB3-85D2-65CA47143B98}"/>
              </a:ext>
            </a:extLst>
          </p:cNvPr>
          <p:cNvSpPr txBox="1"/>
          <p:nvPr/>
        </p:nvSpPr>
        <p:spPr>
          <a:xfrm>
            <a:off x="2495623" y="1859167"/>
            <a:ext cx="7200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Tabel</a:t>
            </a:r>
            <a:r>
              <a:rPr lang="en-US" sz="2000" dirty="0"/>
              <a:t> 1. </a:t>
            </a:r>
            <a:r>
              <a:rPr lang="en-US" sz="2000" dirty="0" err="1"/>
              <a:t>Variabel</a:t>
            </a:r>
            <a:r>
              <a:rPr lang="en-US" sz="2000" dirty="0"/>
              <a:t> Data </a:t>
            </a:r>
            <a:r>
              <a:rPr lang="en-US" sz="2000" dirty="0" err="1"/>
              <a:t>Statistik</a:t>
            </a:r>
            <a:r>
              <a:rPr lang="en-US" sz="2000" dirty="0"/>
              <a:t> </a:t>
            </a:r>
            <a:r>
              <a:rPr lang="en-US" sz="2000" dirty="0" err="1"/>
              <a:t>Perkembangan</a:t>
            </a:r>
            <a:r>
              <a:rPr lang="en-US" sz="2000" dirty="0"/>
              <a:t> Covid-19 Di Indonesia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986223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2B4E-B9B2-45E0-9A27-3A5D0D68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Seleksi</a:t>
            </a:r>
            <a:r>
              <a:rPr lang="en-US" dirty="0"/>
              <a:t> Fitur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Kedua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2B3A47-8A73-4FB3-85D2-65CA47143B98}"/>
              </a:ext>
            </a:extLst>
          </p:cNvPr>
          <p:cNvSpPr txBox="1"/>
          <p:nvPr/>
        </p:nvSpPr>
        <p:spPr>
          <a:xfrm>
            <a:off x="2406304" y="1859167"/>
            <a:ext cx="7379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Tabel</a:t>
            </a:r>
            <a:r>
              <a:rPr lang="en-US" sz="2000" dirty="0"/>
              <a:t> 1. </a:t>
            </a:r>
            <a:r>
              <a:rPr lang="en-US" sz="2000" dirty="0" err="1"/>
              <a:t>Variabel</a:t>
            </a:r>
            <a:r>
              <a:rPr lang="en-US" sz="2000" dirty="0"/>
              <a:t> Data </a:t>
            </a:r>
            <a:r>
              <a:rPr lang="en-US" sz="2000" dirty="0" err="1"/>
              <a:t>Harian</a:t>
            </a:r>
            <a:r>
              <a:rPr lang="en-US" sz="2000" dirty="0"/>
              <a:t> </a:t>
            </a:r>
            <a:r>
              <a:rPr lang="en-US" sz="2000" dirty="0" err="1"/>
              <a:t>Kasus</a:t>
            </a:r>
            <a:r>
              <a:rPr lang="en-US" sz="2000" dirty="0"/>
              <a:t> Per </a:t>
            </a:r>
            <a:r>
              <a:rPr lang="en-US" sz="2000" dirty="0" err="1"/>
              <a:t>Provinsi</a:t>
            </a:r>
            <a:r>
              <a:rPr lang="en-US" sz="2000" dirty="0"/>
              <a:t> Covid-19 Di Indonesia</a:t>
            </a:r>
            <a:endParaRPr lang="en-ID" sz="2000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20E1B9F6-7E08-4FE6-AD46-7D6E4A0D9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954609"/>
              </p:ext>
            </p:extLst>
          </p:nvPr>
        </p:nvGraphicFramePr>
        <p:xfrm>
          <a:off x="2032000" y="242775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9011430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01587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Nama </a:t>
                      </a:r>
                      <a:r>
                        <a:rPr lang="en-US" dirty="0" err="1"/>
                        <a:t>Variabel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Tipe</a:t>
                      </a:r>
                      <a:r>
                        <a:rPr lang="en-US" dirty="0"/>
                        <a:t> Data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303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Provinsi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017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Positif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351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Sembuh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143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Kasus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Meninggal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Numerik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433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838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6CE50C-7CD0-4281-A3D2-C1F0A8A62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802187"/>
          </a:xfrm>
        </p:spPr>
      </p:pic>
    </p:spTree>
    <p:extLst>
      <p:ext uri="{BB962C8B-B14F-4D97-AF65-F5344CB8AC3E}">
        <p14:creationId xmlns:p14="http://schemas.microsoft.com/office/powerpoint/2010/main" val="2413384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7B2D7-3A29-4E6D-8301-8F5CF4535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40" y="1690687"/>
            <a:ext cx="10612260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71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84FF1-1F72-421F-824B-1EB407B35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581149"/>
            <a:ext cx="11410950" cy="491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84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23200-32D3-41D7-8CE6-4F66EA42D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1566862"/>
            <a:ext cx="11572875" cy="502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440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4BB72-A810-43E5-8A62-8F4097A92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690688"/>
            <a:ext cx="1144905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62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8D3AB5-237D-4721-95B4-512C90A6B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90688"/>
            <a:ext cx="114300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09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E411DB-CEF3-4932-AB09-AB18A5D4F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1477381"/>
            <a:ext cx="913447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40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D4247-0A84-4F53-B8D6-FCAD5FA91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96" y="1543050"/>
            <a:ext cx="5324475" cy="3771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D97676-BE64-4F27-B61E-E629A9AF1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675" y="1557337"/>
            <a:ext cx="47815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65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FD065F-8226-4127-8F08-780D83FF8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690688"/>
            <a:ext cx="102489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06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FB582-3241-41A6-AF40-437033202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690688"/>
            <a:ext cx="1015365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2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EF6B42-7F3C-4A22-8520-FC99C9586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1690688"/>
            <a:ext cx="1007745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16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E883-C6F9-4FAE-93D8-3418697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Visualisasi</a:t>
            </a:r>
            <a:r>
              <a:rPr lang="en-US" dirty="0"/>
              <a:t> Data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00D21-6AB4-43BC-BE35-6D08F0EB77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85"/>
          <a:stretch/>
        </p:blipFill>
        <p:spPr>
          <a:xfrm>
            <a:off x="838200" y="1690688"/>
            <a:ext cx="10515600" cy="469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52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terima kasih | Note de la propriété de Renny">
            <a:extLst>
              <a:ext uri="{FF2B5EF4-FFF2-40B4-BE49-F238E27FC236}">
                <a16:creationId xmlns:a16="http://schemas.microsoft.com/office/drawing/2014/main" id="{27460F37-1A99-4719-88CB-1C5C3359A6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52" b="17559"/>
          <a:stretch/>
        </p:blipFill>
        <p:spPr bwMode="auto">
          <a:xfrm>
            <a:off x="1656556" y="1207394"/>
            <a:ext cx="8878887" cy="444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44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655</Words>
  <Application>Microsoft Office PowerPoint</Application>
  <PresentationFormat>Widescreen</PresentationFormat>
  <Paragraphs>123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(Body)</vt:lpstr>
      <vt:lpstr>Calibri Light</vt:lpstr>
      <vt:lpstr>sohne</vt:lpstr>
      <vt:lpstr>Times New Roman</vt:lpstr>
      <vt:lpstr>Office Theme</vt:lpstr>
      <vt:lpstr>Siminar Daring Analisa Data Statistik dan Visualisasi Data Covid-19 Di Indonesia</vt:lpstr>
      <vt:lpstr>Apa itu Covid-19</vt:lpstr>
      <vt:lpstr>Apa saja pencegahan covid-19</vt:lpstr>
      <vt:lpstr>Siapa yang memberikan informasi covid-19</vt:lpstr>
      <vt:lpstr>Contoh visualisasi data covid-19</vt:lpstr>
      <vt:lpstr>PowerPoint Presentation</vt:lpstr>
      <vt:lpstr>PowerPoint Presentation</vt:lpstr>
      <vt:lpstr>PowerPoint Presentation</vt:lpstr>
      <vt:lpstr>Bagaimana cara membuat laporan tersebut…?</vt:lpstr>
      <vt:lpstr>Sekilas Bahasa Python … ?</vt:lpstr>
      <vt:lpstr>Sekilas Analisa Statistik di Python</vt:lpstr>
      <vt:lpstr>Sekilas Analisa Visualisasi di Python</vt:lpstr>
      <vt:lpstr>Sekilas Analisa Visualisasi di Python</vt:lpstr>
      <vt:lpstr>Membuat Visualisasi dan Analisa Statistik Covid-19</vt:lpstr>
      <vt:lpstr>Akuisisi Data</vt:lpstr>
      <vt:lpstr>Seleksi Fitur untuk Data Pertama</vt:lpstr>
      <vt:lpstr>Seleksi Fitur untuk Data Kedua</vt:lpstr>
      <vt:lpstr>Implementasi Visualisasi Data</vt:lpstr>
      <vt:lpstr>Implementasi Visualisasi Data</vt:lpstr>
      <vt:lpstr>Implementasi Visualisasi Data</vt:lpstr>
      <vt:lpstr>Implementasi Visualisasi Data</vt:lpstr>
      <vt:lpstr>Implementasi Visualisasi Data</vt:lpstr>
      <vt:lpstr>Implementasi Visualisasi Data</vt:lpstr>
      <vt:lpstr>Implementasi Visualisasi Data</vt:lpstr>
      <vt:lpstr>Implementasi Visualisasi Data</vt:lpstr>
      <vt:lpstr>Implementasi Visualisasi Data</vt:lpstr>
      <vt:lpstr>Implementasi Visualisasi Data</vt:lpstr>
      <vt:lpstr>Implementasi Visualisasi Data</vt:lpstr>
      <vt:lpstr>Implementasi Visualisasi 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Visualisasi Data dan Analisa Statistik  Covid-19 Di Indonesia</dc:title>
  <dc:creator>Lunox</dc:creator>
  <cp:lastModifiedBy>Aryajaya Alamsyah</cp:lastModifiedBy>
  <cp:revision>245</cp:revision>
  <dcterms:created xsi:type="dcterms:W3CDTF">2020-10-26T15:54:36Z</dcterms:created>
  <dcterms:modified xsi:type="dcterms:W3CDTF">2020-12-15T13:32:09Z</dcterms:modified>
</cp:coreProperties>
</file>